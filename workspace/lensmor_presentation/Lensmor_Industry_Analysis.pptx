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6B7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AFA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2029 (Est)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394</c:v>
                </c:pt>
                <c:pt idx="1">
                  <c:v>887.6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AFA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9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6950" y="1671638"/>
            <a:ext cx="1269950" cy="76200"/>
          </a:xfrm>
          <a:prstGeom prst="roundRect">
            <a:avLst>
              <a:gd name="adj" fmla="val 50000"/>
            </a:avLst>
          </a:prstGeom>
          <a:solidFill>
            <a:srgbClr val="6B7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81301" y="2001738"/>
            <a:ext cx="518139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海外展会行业深度解析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90038" y="2843064"/>
            <a:ext cx="396392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Lensmor 团队内部共识文档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核心命题：展会行业为什么效率低下？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8546" y="4746724"/>
            <a:ext cx="14756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19001"/>
            <a:ext cx="9144000" cy="0"/>
          </a:xfrm>
          <a:prstGeom prst="line">
            <a:avLst/>
          </a:prstGeom>
          <a:noFill/>
          <a:ln w="19050">
            <a:solidFill>
              <a:srgbClr val="262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226234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 核心结论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026771" y="335012"/>
            <a:ext cx="1609279" cy="266402"/>
          </a:xfrm>
          <a:prstGeom prst="roundRect">
            <a:avLst>
              <a:gd name="adj" fmla="val 19069"/>
            </a:avLst>
          </a:prstGeom>
          <a:solidFill>
            <a:srgbClr val="6B7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28272" y="385763"/>
            <a:ext cx="143440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955477"/>
            <a:ext cx="3901380" cy="1524000"/>
          </a:xfrm>
          <a:prstGeom prst="roundRect">
            <a:avLst>
              <a:gd name="adj" fmla="val 6667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4426" y="1091952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市场足够大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4426" y="1294954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 $394B → 2029年 $887.6B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426" y="1459855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B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~15%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4669" y="955477"/>
            <a:ext cx="3901380" cy="1524000"/>
          </a:xfrm>
          <a:prstGeom prst="roundRect">
            <a:avLst>
              <a:gd name="adj" fmla="val 6667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1145" y="1091952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效率足够低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71145" y="1333054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1145" y="1536055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线索在 7 天内丢失。只有 23% 的企业能追踪 ROI。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606427"/>
            <a:ext cx="3901380" cy="1524000"/>
          </a:xfrm>
          <a:prstGeom prst="roundRect">
            <a:avLst>
              <a:gd name="adj" fmla="val 6667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426" y="2742902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痛点足够痛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426" y="2984004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426" y="3187005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问题展会的参展商流失率。SaaS 仅为 5-7%。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4669" y="2606427"/>
            <a:ext cx="3901380" cy="1524000"/>
          </a:xfrm>
          <a:prstGeom prst="roundRect">
            <a:avLst>
              <a:gd name="adj" fmla="val 6667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1145" y="2742902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Lensmor 的机会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1145" y="2945904"/>
            <a:ext cx="370099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从“数据”升级为“情报”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1145" y="3143994"/>
            <a:ext cx="37009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 ROI 黑盒，做展会行业的 Datadog。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6100"/>
            <a:ext cx="9144000" cy="0"/>
          </a:xfrm>
          <a:prstGeom prst="line">
            <a:avLst/>
          </a:prstGeom>
          <a:noFill/>
          <a:ln w="19050">
            <a:solidFill>
              <a:srgbClr val="262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市场规模与增长趋势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361926"/>
            <a:ext cx="3283148" cy="235252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全球展览市场规模 2023 年达 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$394B</a:t>
            </a:r>
            <a:endParaRPr lang="en-US" sz="1400" dirty="0"/>
          </a:p>
          <a:p>
            <a:pPr algn="l" marL="95250" indent="-9525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 2029 年增长至 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$887.6B</a:t>
            </a:r>
            <a:endParaRPr lang="en-US" sz="1400" dirty="0"/>
          </a:p>
          <a:p>
            <a:pPr algn="l" marL="95250" indent="-9525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疫情后强劲恢复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：CEIR 指数已恢复至 95.6%</a:t>
            </a:r>
            <a:endParaRPr lang="en-US" sz="1400" dirty="0"/>
          </a:p>
          <a:p>
            <a:pPr algn="l" marL="95250" indent="-9525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美国年展会数量约 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13,000 场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(每周 ~250 场)</a:t>
            </a:r>
            <a:endParaRPr lang="en-US" sz="1400" dirty="0"/>
          </a:p>
          <a:p>
            <a:pPr algn="l" marL="95250" indent="-9525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CB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线下不可替代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：73% 收入来自线下展会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72099" y="1209526"/>
            <a:ext cx="4463951" cy="3575000"/>
          </a:xfrm>
          <a:prstGeom prst="roundRect">
            <a:avLst>
              <a:gd name="adj" fmla="val 4263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81624" y="1409551"/>
          <a:ext cx="4444901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核心问题：ROI 黑盒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1063526"/>
            <a:ext cx="3701802" cy="1853952"/>
          </a:xfrm>
          <a:prstGeom prst="roundRect">
            <a:avLst>
              <a:gd name="adj" fmla="val 8220"/>
            </a:avLst>
          </a:prstGeom>
          <a:solidFill>
            <a:srgbClr val="1E1E29"/>
          </a:solidFill>
          <a:ln w="9525">
            <a:solidFill>
              <a:srgbClr val="EB57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9627" y="1326952"/>
            <a:ext cx="323844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9627" y="2158752"/>
            <a:ext cx="32384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线索在展会结束后</a:t>
            </a:r>
            <a:endParaRPr lang="en-US" sz="140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天内彻底丢失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63653" y="1063526"/>
            <a:ext cx="4172396" cy="853976"/>
          </a:xfrm>
          <a:prstGeom prst="roundRect">
            <a:avLst>
              <a:gd name="adj" fmla="val 11897"/>
            </a:avLst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82703" y="1063526"/>
            <a:ext cx="0" cy="853976"/>
          </a:xfrm>
          <a:prstGeom prst="line">
            <a:avLst/>
          </a:prstGeom>
          <a:noFill/>
          <a:ln w="38100">
            <a:solidFill>
              <a:srgbClr val="6B7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2253" y="1254026"/>
            <a:ext cx="38283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参展决策基于 FOMO 而非 ROI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2253" y="1526977"/>
            <a:ext cx="3828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“你的缺席比你的存在更被注意”成为了主要的参展动力。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63653" y="2044452"/>
            <a:ext cx="4172396" cy="853976"/>
          </a:xfrm>
          <a:prstGeom prst="roundRect">
            <a:avLst>
              <a:gd name="adj" fmla="val 11897"/>
            </a:avLst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482703" y="2044452"/>
            <a:ext cx="0" cy="853976"/>
          </a:xfrm>
          <a:prstGeom prst="line">
            <a:avLst/>
          </a:prstGeom>
          <a:noFill/>
          <a:ln w="38100">
            <a:solidFill>
              <a:srgbClr val="6B7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2253" y="2234952"/>
            <a:ext cx="38283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线索跟进极差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2253" y="2507903"/>
            <a:ext cx="3828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的参展商跟进不当，大多数线索甚至没有被再次联系。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3653" y="3152329"/>
            <a:ext cx="4172396" cy="1009650"/>
          </a:xfrm>
          <a:prstGeom prst="roundRect">
            <a:avLst>
              <a:gd name="adj" fmla="val 10063"/>
            </a:avLst>
          </a:prstGeom>
          <a:solidFill>
            <a:srgbClr val="6B75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54153" y="3342829"/>
            <a:ext cx="386722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“我从未从展会获得过一个线索……这简直是‘成人的万圣节讨糖’。”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一线从业者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利益链条分析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36575"/>
            <a:ext cx="3968800" cy="1670000"/>
          </a:xfrm>
          <a:prstGeom prst="roundRect">
            <a:avLst>
              <a:gd name="adj" fmla="val 6084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7975" y="1296888"/>
            <a:ext cx="3640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主办方 (Organizers)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975" y="1646039"/>
            <a:ext cx="3640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等巨头控制。
</a:t>
            </a:r>
            <a:pPr algn="l" indent="0" marL="0">
              <a:buNone/>
            </a:pPr>
            <a:r>
              <a:rPr lang="en-US" sz="1100" b="1" dirty="0">
                <a:solidFill>
                  <a:srgbClr val="4CB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利润率 30-50%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观众是他们卖给参展商的产品。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7250" y="936575"/>
            <a:ext cx="3968800" cy="1670000"/>
          </a:xfrm>
          <a:prstGeom prst="roundRect">
            <a:avLst>
              <a:gd name="adj" fmla="val 6084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67275" y="1296888"/>
            <a:ext cx="3640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总承包商 (USA)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67275" y="1646039"/>
            <a:ext cx="3640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Freeman / GES 垄断。
天价服务费 (如 $891/小时吊臂)
</a:t>
            </a:r>
            <a:pPr algn="l" indent="0" marL="0">
              <a:buNone/>
            </a:pPr>
            <a:r>
              <a:rPr lang="en-US" sz="1100" b="1" dirty="0">
                <a:solidFill>
                  <a:srgbClr val="4CB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垄断超额利润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6669" y="2670125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成本转嫁 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7950" y="3086100"/>
            <a:ext cx="8128099" cy="1670000"/>
          </a:xfrm>
          <a:prstGeom prst="roundRect">
            <a:avLst>
              <a:gd name="adj" fmla="val 6084"/>
            </a:avLst>
          </a:prstGeom>
          <a:solidFill>
            <a:srgbClr val="EB5757">
              <a:alpha val="5000"/>
            </a:srgbClr>
          </a:solidFill>
          <a:ln w="9525">
            <a:solidFill>
              <a:srgbClr val="EB57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975" y="3446413"/>
            <a:ext cx="78826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参展商 (Exhibitors)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7975" y="3795564"/>
            <a:ext cx="78826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被迫承担所有成本。
</a:t>
            </a:r>
            <a:pPr algn="l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不可控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被动应对，流失率高。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区域市场差异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36575"/>
            <a:ext cx="8128099" cy="3209925"/>
          </a:xfrm>
          <a:prstGeom prst="roundRect">
            <a:avLst>
              <a:gd name="adj" fmla="val 3165"/>
            </a:avLst>
          </a:prstGeom>
          <a:noFill/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7475" y="1522363"/>
            <a:ext cx="8109049" cy="0"/>
          </a:xfrm>
          <a:prstGeom prst="line">
            <a:avLst/>
          </a:prstGeom>
          <a:noFill/>
          <a:ln w="9525">
            <a:solidFill>
              <a:srgbClr val="262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7475" y="946100"/>
            <a:ext cx="1621780" cy="571500"/>
          </a:xfrm>
          <a:prstGeom prst="rect">
            <a:avLst/>
          </a:prstGeom>
          <a:solidFill>
            <a:srgbClr val="2C31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98500"/>
            <a:ext cx="1343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39255" y="946100"/>
            <a:ext cx="3243560" cy="571500"/>
          </a:xfrm>
          <a:prstGeom prst="rect">
            <a:avLst/>
          </a:prstGeom>
          <a:solidFill>
            <a:srgbClr val="2C31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1655" y="1098500"/>
            <a:ext cx="2997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</a:t>
            </a:r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美国市场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82816" y="946100"/>
            <a:ext cx="3243560" cy="571500"/>
          </a:xfrm>
          <a:prstGeom prst="rect">
            <a:avLst/>
          </a:prstGeom>
          <a:solidFill>
            <a:srgbClr val="2C31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35216" y="1098500"/>
            <a:ext cx="2997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🇪🇺</a:t>
            </a:r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欧洲市场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7475" y="2046238"/>
            <a:ext cx="8109049" cy="0"/>
          </a:xfrm>
          <a:prstGeom prst="line">
            <a:avLst/>
          </a:prstGeom>
          <a:noFill/>
          <a:ln w="9525">
            <a:solidFill>
              <a:srgbClr val="262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475" y="1527125"/>
            <a:ext cx="162178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9875" y="1679525"/>
            <a:ext cx="1343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9255" y="1527125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91655" y="1679525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品牌推广、关系维护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82816" y="1527125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35216" y="1679525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CB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销售导向，现场成交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7475" y="2570113"/>
            <a:ext cx="8109049" cy="0"/>
          </a:xfrm>
          <a:prstGeom prst="line">
            <a:avLst/>
          </a:prstGeom>
          <a:noFill/>
          <a:ln w="9525">
            <a:solidFill>
              <a:srgbClr val="262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475" y="2051000"/>
            <a:ext cx="162178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9875" y="2203400"/>
            <a:ext cx="1343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成本结构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39255" y="2051000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1655" y="2203400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Drayage + 工会人工 (高昂)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82816" y="2051000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35216" y="2203400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展位租赁 + 搭建 (透明)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7475" y="3093988"/>
            <a:ext cx="8109049" cy="0"/>
          </a:xfrm>
          <a:prstGeom prst="line">
            <a:avLst/>
          </a:prstGeom>
          <a:noFill/>
          <a:ln w="9525">
            <a:solidFill>
              <a:srgbClr val="2627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475" y="2574875"/>
            <a:ext cx="162178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9875" y="2727275"/>
            <a:ext cx="1343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39255" y="2574875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291655" y="2727275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Freeman/GES 垄断 (75%)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82816" y="2574875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35216" y="2727275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完全市场化竞争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7475" y="3617863"/>
            <a:ext cx="8109049" cy="0"/>
          </a:xfrm>
          <a:prstGeom prst="line">
            <a:avLst/>
          </a:prstGeom>
          <a:noFill/>
          <a:ln w="9525">
            <a:solidFill>
              <a:srgbClr val="2627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475" y="3098750"/>
            <a:ext cx="162178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9875" y="3251150"/>
            <a:ext cx="1343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搭建限制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39255" y="3098750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291655" y="3251150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必须使用指定官方承包商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82816" y="3098750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35216" y="3251150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自由选择搭建商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7475" y="3622625"/>
            <a:ext cx="162178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9875" y="3775025"/>
            <a:ext cx="1343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费用案例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39255" y="3622625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291655" y="3775025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搬运费 $100-$400/件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82816" y="3622625"/>
            <a:ext cx="3243560" cy="514350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35216" y="3775025"/>
            <a:ext cx="2997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无此费用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参展商作业流与痛点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1317575"/>
            <a:ext cx="2709416" cy="1590229"/>
          </a:xfrm>
          <a:prstGeom prst="roundRect">
            <a:avLst>
              <a:gd name="adj" fmla="val 6389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7975" y="1517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7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9505" y="157311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827" y="1539776"/>
            <a:ext cx="10796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展前 (3-12个月)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7975" y="1898452"/>
            <a:ext cx="23555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设定目标、物流、预约会议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7975" y="2142827"/>
            <a:ext cx="2309366" cy="564952"/>
          </a:xfrm>
          <a:prstGeom prst="rect">
            <a:avLst/>
          </a:prstGeom>
          <a:solidFill>
            <a:srgbClr val="EB575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22263" y="2142827"/>
            <a:ext cx="0" cy="564952"/>
          </a:xfrm>
          <a:prstGeom prst="line">
            <a:avLst/>
          </a:prstGeom>
          <a:noFill/>
          <a:ln w="28575">
            <a:solidFill>
              <a:srgbClr val="EB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51" y="2244328"/>
            <a:ext cx="211934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目标模糊</a:t>
            </a:r>
            <a:pPr algn="l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：盲目撒网，不知道谁会来，缺乏数据支持。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17366" y="1317575"/>
            <a:ext cx="2709267" cy="1590229"/>
          </a:xfrm>
          <a:prstGeom prst="roundRect">
            <a:avLst>
              <a:gd name="adj" fmla="val 6389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17391" y="1517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7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08921" y="157311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8243" y="1539776"/>
            <a:ext cx="8378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展中 (2-5天)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7391" y="1898452"/>
            <a:ext cx="23554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产品演示、线索收集、社交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7391" y="2142827"/>
            <a:ext cx="2309217" cy="564952"/>
          </a:xfrm>
          <a:prstGeom prst="rect">
            <a:avLst/>
          </a:prstGeom>
          <a:solidFill>
            <a:srgbClr val="EB575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31679" y="2142827"/>
            <a:ext cx="0" cy="564952"/>
          </a:xfrm>
          <a:prstGeom prst="line">
            <a:avLst/>
          </a:prstGeom>
          <a:noFill/>
          <a:ln w="28575">
            <a:solidFill>
              <a:srgbClr val="EB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467" y="2244328"/>
            <a:ext cx="211919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信息断层</a:t>
            </a:r>
            <a:pPr algn="l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：销售与观众冷对话，缺乏上下文，"你是做什么的？"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26634" y="1317575"/>
            <a:ext cx="2709416" cy="1590229"/>
          </a:xfrm>
          <a:prstGeom prst="roundRect">
            <a:avLst>
              <a:gd name="adj" fmla="val 6389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26659" y="1517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7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8188" y="157311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07510" y="1539776"/>
            <a:ext cx="8378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展后 (1-4周)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659" y="1898452"/>
            <a:ext cx="23555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整理线索、跟进、复盘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659" y="2142827"/>
            <a:ext cx="2309366" cy="564952"/>
          </a:xfrm>
          <a:prstGeom prst="rect">
            <a:avLst/>
          </a:prstGeom>
          <a:solidFill>
            <a:srgbClr val="EB575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40946" y="2142827"/>
            <a:ext cx="0" cy="564952"/>
          </a:xfrm>
          <a:prstGeom prst="line">
            <a:avLst/>
          </a:prstGeom>
          <a:noFill/>
          <a:ln w="28575">
            <a:solidFill>
              <a:srgbClr val="EB5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6734" y="2244328"/>
            <a:ext cx="211934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跟进灾难</a:t>
            </a:r>
            <a:pPr algn="l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：87% 跟进不当，数据孤岛导致营销与销售脱节。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一线从业者反常识洞察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809476"/>
            <a:ext cx="3901380" cy="1396901"/>
          </a:xfrm>
          <a:prstGeom prst="roundRect">
            <a:avLst>
              <a:gd name="adj" fmla="val 7273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4426" y="945952"/>
            <a:ext cx="3700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关于规模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4426" y="1209377"/>
            <a:ext cx="370099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"越窄越赚钱"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小型高端活动 &gt; 大型展会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426" y="1888927"/>
            <a:ext cx="3700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参展商在小型垂直展会更成功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36281" y="809476"/>
            <a:ext cx="3901380" cy="1396901"/>
          </a:xfrm>
          <a:prstGeom prst="roundRect">
            <a:avLst>
              <a:gd name="adj" fmla="val 7273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72757" y="945952"/>
            <a:ext cx="3700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关于数据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72757" y="1209377"/>
            <a:ext cx="370099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徽章扫描是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"持续付费墙"和"虚假经济"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72757" y="1888927"/>
            <a:ext cx="3700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你得到的只是一个 Email，而不是购买意向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333327"/>
            <a:ext cx="3901380" cy="1396901"/>
          </a:xfrm>
          <a:prstGeom prst="roundRect">
            <a:avLst>
              <a:gd name="adj" fmla="val 7273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2469803"/>
            <a:ext cx="3700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关于价值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426" y="2733229"/>
            <a:ext cx="370099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展会的价值不在展会本身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而在展前预约和展后跟进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426" y="3412778"/>
            <a:ext cx="3700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80% 的资源被错投在展位搭建上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36281" y="2333327"/>
            <a:ext cx="3901380" cy="1396901"/>
          </a:xfrm>
          <a:prstGeom prst="roundRect">
            <a:avLst>
              <a:gd name="adj" fmla="val 7273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72757" y="2469803"/>
            <a:ext cx="3700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关于决策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2757" y="2733229"/>
            <a:ext cx="370099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面对面依然不可替代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信任建立的最快路径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757" y="3412778"/>
            <a:ext cx="3700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"波音不会看广告买电缆，他们要见人"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Lensmor 战略定位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309807" y="1651099"/>
            <a:ext cx="452438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"ZoomInfo meets Datadog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Event Industry"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2851249"/>
            <a:ext cx="3403699" cy="1577727"/>
          </a:xfrm>
          <a:prstGeom prst="roundRect">
            <a:avLst>
              <a:gd name="adj" fmla="val 9659"/>
            </a:avLst>
          </a:prstGeom>
          <a:solidFill>
            <a:srgbClr val="1E1E29"/>
          </a:solidFill>
          <a:ln w="9525">
            <a:solidFill>
              <a:srgbClr val="2627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608" y="3114675"/>
            <a:ext cx="29343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2608" y="3514725"/>
            <a:ext cx="29343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卖联系人列表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2608" y="3956000"/>
            <a:ext cx="29343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扫描更多徽章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19600" y="3463826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6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32350" y="2851249"/>
            <a:ext cx="3403699" cy="1577727"/>
          </a:xfrm>
          <a:prstGeom prst="roundRect">
            <a:avLst>
              <a:gd name="adj" fmla="val 9659"/>
            </a:avLst>
          </a:prstGeom>
          <a:solidFill>
            <a:srgbClr val="6B75FF">
              <a:alpha val="5000"/>
            </a:srgbClr>
          </a:solidFill>
          <a:ln w="9525">
            <a:solidFill>
              <a:srgbClr val="6B75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67008" y="3114675"/>
            <a:ext cx="29343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LENSMOR 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7008" y="3514725"/>
            <a:ext cx="29343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卖决策依据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7008" y="3956000"/>
            <a:ext cx="29343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识别必赢客户 + 接触上下文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6100"/>
            <a:ext cx="9144000" cy="0"/>
          </a:xfrm>
          <a:prstGeom prst="line">
            <a:avLst/>
          </a:prstGeom>
          <a:noFill/>
          <a:ln w="19050">
            <a:solidFill>
              <a:srgbClr val="262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核心价值主张：全流程覆盖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336625"/>
            <a:ext cx="2582317" cy="1801267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336625"/>
            <a:ext cx="0" cy="1801267"/>
          </a:xfrm>
          <a:prstGeom prst="line">
            <a:avLst/>
          </a:prstGeom>
          <a:noFill/>
          <a:ln w="38100">
            <a:solidFill>
              <a:srgbClr val="6B7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550" y="1527125"/>
            <a:ext cx="2206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PRE-EVENT (展前)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6550" y="1809601"/>
            <a:ext cx="2206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精准识别高潜力目标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550" y="2165152"/>
            <a:ext cx="2206481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基于技术栈、招聘意向等信号筛选客户。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从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盲目撒网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到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精准打击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80767" y="1336625"/>
            <a:ext cx="2582466" cy="1801267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99817" y="1336625"/>
            <a:ext cx="0" cy="1801267"/>
          </a:xfrm>
          <a:prstGeom prst="line">
            <a:avLst/>
          </a:prstGeom>
          <a:noFill/>
          <a:ln w="38100">
            <a:solidFill>
              <a:srgbClr val="6B7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9367" y="1527125"/>
            <a:ext cx="22066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AT-EVENT (展中)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09367" y="1809601"/>
            <a:ext cx="2206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提供"接触理由"上下文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9367" y="2165152"/>
            <a:ext cx="220663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为销售提供谈资 (例如："他们刚招了 VP of Sales")。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从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完全冷对话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到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言之有物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733" y="1336625"/>
            <a:ext cx="2582317" cy="1801267"/>
          </a:xfrm>
          <a:prstGeom prst="rect">
            <a:avLst/>
          </a:prstGeom>
          <a:solidFill>
            <a:srgbClr val="1E1E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2783" y="1336625"/>
            <a:ext cx="0" cy="1801267"/>
          </a:xfrm>
          <a:prstGeom prst="line">
            <a:avLst/>
          </a:prstGeom>
          <a:noFill/>
          <a:ln w="38100">
            <a:solidFill>
              <a:srgbClr val="6B7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2333" y="1527125"/>
            <a:ext cx="2206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POST-EVENT (展后)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82333" y="1809601"/>
            <a:ext cx="2206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线索优先级排序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2333" y="2165152"/>
            <a:ext cx="2206481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自动化跟进建议，锁定高意向客户。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从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线索黑洞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到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94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可控转化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2026-02-03T07:39:22Z</dcterms:created>
  <dcterms:modified xsi:type="dcterms:W3CDTF">2026-02-03T07:39:22Z</dcterms:modified>
</cp:coreProperties>
</file>